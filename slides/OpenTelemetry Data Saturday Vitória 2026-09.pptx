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2" r:id="rId6"/>
    <p:sldId id="264" r:id="rId7"/>
    <p:sldId id="263" r:id="rId8"/>
    <p:sldId id="281" r:id="rId9"/>
    <p:sldId id="297" r:id="rId10"/>
    <p:sldId id="284" r:id="rId11"/>
    <p:sldId id="289" r:id="rId12"/>
    <p:sldId id="287" r:id="rId13"/>
    <p:sldId id="261" r:id="rId14"/>
    <p:sldId id="283" r:id="rId15"/>
    <p:sldId id="286" r:id="rId16"/>
    <p:sldId id="294" r:id="rId17"/>
    <p:sldId id="290" r:id="rId18"/>
    <p:sldId id="299" r:id="rId19"/>
    <p:sldId id="300" r:id="rId20"/>
    <p:sldId id="301" r:id="rId21"/>
    <p:sldId id="302" r:id="rId22"/>
    <p:sldId id="298" r:id="rId23"/>
    <p:sldId id="296" r:id="rId24"/>
    <p:sldId id="306" r:id="rId25"/>
    <p:sldId id="310" r:id="rId26"/>
    <p:sldId id="309" r:id="rId27"/>
    <p:sldId id="308" r:id="rId28"/>
    <p:sldId id="307" r:id="rId29"/>
    <p:sldId id="303" r:id="rId30"/>
    <p:sldId id="295" r:id="rId31"/>
    <p:sldId id="292" r:id="rId32"/>
    <p:sldId id="293" r:id="rId33"/>
    <p:sldId id="278" r:id="rId34"/>
    <p:sldId id="279" r:id="rId35"/>
    <p:sldId id="260" r:id="rId36"/>
  </p:sldIdLst>
  <p:sldSz cx="9144000" cy="5143500" type="screen16x9"/>
  <p:notesSz cx="6858000" cy="9144000"/>
  <p:embeddedFontLst>
    <p:embeddedFont>
      <p:font typeface="Average" panose="020B0604020202020204" charset="0"/>
      <p:regular r:id="rId38"/>
    </p:embeddedFont>
    <p:embeddedFont>
      <p:font typeface="Oswald" panose="00000500000000000000" pitchFamily="2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gQK7RK9Tebwyu3Nn8qsunMON/m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2" d="100"/>
          <a:sy n="52" d="100"/>
        </p:scale>
        <p:origin x="1618" y="9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45553FA9-0585-577B-F420-AEE7FF9E2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80D4FB9B-9CBA-268D-99B2-BBF25A598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F40C14FB-05FD-E41B-39B3-AA6DC45DB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3820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41CF4137-6706-B9F2-8997-730C94F78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E84F2554-8B6B-B6FF-282F-4A13D740A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B8B1AF7A-0314-8BAF-0F11-72096A773D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826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3D36E05-E338-4BED-B088-5C87F321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5A323D0D-2290-46A0-82DE-7AE1B0A4C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D5719EBE-2A2F-E3F1-E14C-4DB1C3E27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427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F034F552-FFAB-054D-8678-10D276C8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B401080A-EEB0-512E-6CF9-E37E359E0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1B460C61-DFDA-1E7F-3EE6-89D39D50B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432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2F25E60-82ED-3EB7-EE07-BB7090475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9B7855F3-291A-F4F4-0A71-7F04A4CB29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A413B53F-8072-2D41-B962-C36353F83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8009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4EBDA5E-1701-D5E1-2BE0-425F6D62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79BB2AE0-D68B-806A-CC4E-5CAB1A5893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1158E602-E47E-0514-7A79-3A90BFBE4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951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FE66903-DE5D-8DD4-6012-FE9389DBC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C1B4A03B-85B9-479E-6F97-CD49F96475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AECF1358-A9AD-4622-E868-C010A65ED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7583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BB84191C-1FE3-0B34-8E52-2A9B1FE3C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210E86E4-5EC9-98A2-B2CF-FCF56FA29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1EEC8219-0020-07C3-5308-B583F7DF9A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110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A43EBDCC-4D1B-6251-E0D6-583EDE40C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1DDAC721-68D3-A271-A8CC-24DD995BE3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3739CA8C-D632-2258-61CE-E9976C64C1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969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7C7309F-A822-8D14-DF13-23D04133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95BF4D12-796F-BC96-338C-B90076AA33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5C8DCC12-342E-C787-CCA2-30F21050A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5940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2F0B707-9DA9-A293-2135-8221C975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5F73E8BA-4228-23F5-7FFF-A38773D51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F3F5906E-8E3E-A44B-EA49-B51B97727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707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C2A4721-EB00-204E-9023-53FE43EC3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43996C17-2F3C-4206-F3A5-1DA8692B1F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462C1FCE-D989-A319-2299-424521A4D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6905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76FFB2D-381F-88CF-0D98-EC731778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7586C3F6-F9EB-0A1F-4417-A6D5D1D735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F8E872BD-7A5A-7685-1B63-AEA6926A9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2057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71833FE-F2EF-D4D9-D58A-81C61E238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0D3D169C-35A4-56D0-BCAC-4B40CF883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82A6E2A9-8675-EF21-A68B-D438DE9B9A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693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EF70F3D0-9E2C-689B-5DAE-E89F4B7EE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B9600FEF-6F9B-E53A-9B04-A86DAD6AB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15468B86-3ADD-B315-F058-56B9B68C2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798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D1A407B-5ABE-086D-F728-A59303892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A2571CB2-0F64-8CC7-39B3-051C4298DA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CC7C56AE-1B5F-B87A-4843-F3A1A13948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5242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ABD6E7A-4305-EB4E-7A8C-EEFA0B5A4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36E6C01B-CAF4-39D6-4523-5D6A5F0BB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3FDF9FEC-A7A7-747C-E862-079ABEA80E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9962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B67A8E7-0CF0-1E09-1393-A0BE3451D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E78BD8B1-3E33-5F2C-6611-455981EAD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1CAE5F50-3B88-E2B8-ED7C-807F608A80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4101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1910857-1083-B131-CCBF-E70DAA87E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FAF91777-3583-5B53-3002-9967A589B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46A9C4F1-C6C8-B100-8180-3CD20B8FD2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90891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19399DC-4D1F-0B82-2FC9-803701503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72C5AF09-B8DB-DAE7-2898-654F3B7116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501246CF-F187-FEA1-D0F6-C3664393D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3504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38F7743-8156-D1B7-5B61-D37443B5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1E6C849B-0839-C2EF-0576-9E94B6138B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9DD26185-EC12-0B19-B255-719EC70669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965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457704A-BF4D-EE77-629F-EDA78CB0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3A59E2E1-FBD8-8151-B751-0E29DCAB2D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90492912-FE76-29F7-38D4-058217F560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6532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25A1FC6D-B17D-316A-AC7C-BB289174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00473349-0E9B-876A-611C-78FCEADA6E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F0CD918C-F251-1395-96A3-0265A6C000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1088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A5DAC227-91F8-E602-AE42-B85D9EE4E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5B2FA069-DEF1-3AA9-4D95-02233CCD71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054B5937-7699-2502-834D-D52C0C1E0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3031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BECF52E2-0A09-898F-6DEB-93B2D9B1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C1FE415C-3D8C-6832-7346-315671B92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5A13B544-06A2-D973-CB74-28B42DFA28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1506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3811E1E4-3121-C4A9-BAEC-A7E18778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BCBA221C-234A-0480-E4F1-66CB03723F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85473114-B951-FE80-324B-01C6C9C01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57495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38EA1918-A62E-2495-2C7F-E1579A7E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88C460E3-D50B-C59D-48A2-C247FB9D2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41D869DB-A6D6-6484-3F63-9E1E61EBEE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9942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C6A07E1-CE42-BF40-DC51-E33F025C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72099316-C979-1705-8C2E-717249924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34B2D417-3268-994E-FF58-CDBB74B54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59266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ACE99BD-743C-64FB-59D0-0E76B9CE7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103FD698-FB81-1780-B853-104A505CB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>
            <a:extLst>
              <a:ext uri="{FF2B5EF4-FFF2-40B4-BE49-F238E27FC236}">
                <a16:creationId xmlns:a16="http://schemas.microsoft.com/office/drawing/2014/main" id="{8EBF3E01-CBFC-7AD3-B2A5-399681AD13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53833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7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7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7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7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4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6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elemetry.i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oss/alloy-opentelemetry-collector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metheus.io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oss/loki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rafana.com/oss/tempo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egertracing.io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zipkin.io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210001" y="980283"/>
            <a:ext cx="8717037" cy="9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62500" lnSpcReduction="20000"/>
          </a:bodyPr>
          <a:lstStyle/>
          <a:p>
            <a:pPr lvl="0">
              <a:lnSpc>
                <a:spcPct val="90000"/>
              </a:lnSpc>
              <a:buSzPts val="6000"/>
            </a:pPr>
            <a:r>
              <a:rPr lang="pt-BR" sz="6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Observabilidade</a:t>
            </a:r>
            <a:r>
              <a:rPr lang="pt-BR" sz="6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Unificada com </a:t>
            </a:r>
            <a:r>
              <a:rPr lang="pt-BR" sz="6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OpenTelemetry</a:t>
            </a:r>
            <a:br>
              <a:rPr lang="pt-BR" sz="6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pt-BR" sz="4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Monitorando interações entre aplicações e Bancos de Dados</a:t>
            </a:r>
            <a:endParaRPr sz="58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212678" y="2257457"/>
            <a:ext cx="8626522" cy="148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90000"/>
              </a:lnSpc>
              <a:buSzPts val="2400"/>
            </a:pPr>
            <a:r>
              <a:rPr lang="en-US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Renato Groffe</a:t>
            </a:r>
            <a:br>
              <a:rPr lang="en-US" sz="24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r>
              <a:rPr lang="en-US" sz="2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Microsoft MVP, Docker Captain, Grafana Champion, </a:t>
            </a:r>
            <a:r>
              <a:rPr lang="en-US" sz="2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APIsec</a:t>
            </a:r>
            <a:r>
              <a:rPr lang="en-US" sz="2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U Ambassador, MTAC</a:t>
            </a:r>
            <a:br>
              <a:rPr lang="en-US" sz="2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</a:br>
            <a:endParaRPr lang="en-US" sz="2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/>
              <a:t>Renato Groffe</a:t>
            </a:r>
            <a:endParaRPr dirty="0"/>
          </a:p>
        </p:txBody>
      </p:sp>
      <p:sp>
        <p:nvSpPr>
          <p:cNvPr id="78" name="Google Shape;78;p4"/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700" dirty="0"/>
              <a:t>Microsoft Most Valuable Professional (MVP)</a:t>
            </a:r>
          </a:p>
          <a:p>
            <a:r>
              <a:rPr lang="en-US" sz="1700" dirty="0"/>
              <a:t>Docker Captain</a:t>
            </a:r>
          </a:p>
          <a:p>
            <a:r>
              <a:rPr lang="en-US" sz="1700" dirty="0"/>
              <a:t>Grafana Champion</a:t>
            </a:r>
          </a:p>
          <a:p>
            <a:r>
              <a:rPr lang="en-US" sz="1700" dirty="0"/>
              <a:t>APISEC U Ambassador</a:t>
            </a:r>
          </a:p>
          <a:p>
            <a:r>
              <a:rPr lang="en-US" sz="1700" dirty="0"/>
              <a:t>Multi-</a:t>
            </a:r>
            <a:r>
              <a:rPr lang="en-US" sz="1700" dirty="0" err="1"/>
              <a:t>Plataform</a:t>
            </a:r>
            <a:r>
              <a:rPr lang="en-US" sz="1700" dirty="0"/>
              <a:t> Technical Audience Contributor (MTAC)</a:t>
            </a:r>
          </a:p>
          <a:p>
            <a:r>
              <a:rPr lang="en-US" sz="1700" dirty="0" err="1"/>
              <a:t>Arquiteto</a:t>
            </a:r>
            <a:r>
              <a:rPr lang="en-US" sz="1700" dirty="0"/>
              <a:t> de </a:t>
            </a:r>
            <a:r>
              <a:rPr lang="en-US" sz="1700" dirty="0" err="1"/>
              <a:t>Soluções</a:t>
            </a:r>
            <a:r>
              <a:rPr lang="en-US" sz="1700" dirty="0"/>
              <a:t>/Software</a:t>
            </a:r>
          </a:p>
          <a:p>
            <a:r>
              <a:rPr lang="en-US" sz="1700" dirty="0"/>
              <a:t>+25 </a:t>
            </a:r>
            <a:r>
              <a:rPr lang="en-US" sz="1700" dirty="0" err="1"/>
              <a:t>anos</a:t>
            </a:r>
            <a:r>
              <a:rPr lang="en-US" sz="1700" dirty="0"/>
              <a:t> de </a:t>
            </a:r>
            <a:r>
              <a:rPr lang="en-US" sz="1700" dirty="0" err="1"/>
              <a:t>experiência</a:t>
            </a:r>
            <a:r>
              <a:rPr lang="en-US" sz="1700" dirty="0"/>
              <a:t> </a:t>
            </a:r>
            <a:r>
              <a:rPr lang="en-US" sz="1700" dirty="0" err="1"/>
              <a:t>na</a:t>
            </a:r>
            <a:r>
              <a:rPr lang="en-US" sz="1700" dirty="0"/>
              <a:t> </a:t>
            </a:r>
            <a:r>
              <a:rPr lang="en-US" sz="1700" dirty="0" err="1"/>
              <a:t>área</a:t>
            </a:r>
            <a:r>
              <a:rPr lang="en-US" sz="1700" dirty="0"/>
              <a:t> de </a:t>
            </a:r>
            <a:r>
              <a:rPr lang="en-US" sz="1700" dirty="0" err="1"/>
              <a:t>Tecnologia</a:t>
            </a:r>
            <a:endParaRPr lang="en-US" sz="1700" dirty="0"/>
          </a:p>
          <a:p>
            <a:r>
              <a:rPr lang="en-US" sz="1700" dirty="0"/>
              <a:t>Community Leader, Autor Técnico e </a:t>
            </a:r>
            <a:r>
              <a:rPr lang="en-US" sz="1700" dirty="0" err="1"/>
              <a:t>Palestrante</a:t>
            </a:r>
            <a:endParaRPr lang="en-US" sz="1700" dirty="0"/>
          </a:p>
        </p:txBody>
      </p:sp>
      <p:sp>
        <p:nvSpPr>
          <p:cNvPr id="79" name="Google Shape;79;p4"/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538F01-23C4-3B84-BDA1-E52BD88F6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617" y="574007"/>
            <a:ext cx="1609243" cy="1785568"/>
          </a:xfrm>
          <a:prstGeom prst="rect">
            <a:avLst/>
          </a:prstGeom>
        </p:spPr>
      </p:pic>
      <p:pic>
        <p:nvPicPr>
          <p:cNvPr id="5" name="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88D616C7-D95B-CE12-78EC-8E9834547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901" y="2436125"/>
            <a:ext cx="1949218" cy="19492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526252BA-BB4F-CB51-4ABA-F75AEB73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771A79F2-8312-DD6C-83AD-CC0B75D72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 err="1"/>
              <a:t>Conteúdos</a:t>
            </a:r>
            <a:r>
              <a:rPr lang="en-US" sz="4200" dirty="0"/>
              <a:t> </a:t>
            </a:r>
            <a:r>
              <a:rPr lang="en-US" sz="4200" dirty="0" err="1"/>
              <a:t>desta</a:t>
            </a:r>
            <a:r>
              <a:rPr lang="en-US" sz="4200" dirty="0"/>
              <a:t> </a:t>
            </a:r>
            <a:r>
              <a:rPr lang="en-US" sz="4200" dirty="0" err="1"/>
              <a:t>apresentação</a:t>
            </a:r>
            <a:endParaRPr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2F37C303-31A1-ECB7-6FED-AD346F7534B0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D7AECCA1-6B18-2930-CA04-F28F0C7AA99E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E30D3B-DA43-943D-FAA2-2BE5D65DDD4D}"/>
              </a:ext>
            </a:extLst>
          </p:cNvPr>
          <p:cNvSpPr>
            <a:spLocks noGrp="1"/>
          </p:cNvSpPr>
          <p:nvPr/>
        </p:nvSpPr>
        <p:spPr>
          <a:xfrm>
            <a:off x="404435" y="3022919"/>
            <a:ext cx="8300294" cy="433965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800" b="1" dirty="0">
                <a:solidFill>
                  <a:schemeClr val="tx1"/>
                </a:solidFill>
              </a:rPr>
              <a:t>github.com/renatogroffe/opentelemetry_data-ai-saturday-vitoria-2026-09</a:t>
            </a: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0A6CEF04-E38D-7FF2-700F-0395F1DC8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318" y="3656011"/>
            <a:ext cx="1188528" cy="118852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0B4D35-B466-E197-AC73-FBB68D2341D4}"/>
              </a:ext>
            </a:extLst>
          </p:cNvPr>
          <p:cNvSpPr txBox="1">
            <a:spLocks/>
          </p:cNvSpPr>
          <p:nvPr/>
        </p:nvSpPr>
        <p:spPr>
          <a:xfrm>
            <a:off x="5230425" y="1597246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8FAA644-650F-6531-32DB-D7B441C01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9" y="1262643"/>
            <a:ext cx="1582346" cy="158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7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01DA65AB-74DA-8FE7-5732-E40F8EB3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ACE3D084-773F-8C09-829D-288F92A75C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/>
              <a:t>Agenda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86551C58-D005-470F-2288-622023F94A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 err="1"/>
              <a:t>Observabilidade</a:t>
            </a:r>
            <a:r>
              <a:rPr lang="pt-BR" dirty="0"/>
              <a:t> e </a:t>
            </a:r>
            <a:r>
              <a:rPr lang="pt-BR" dirty="0" err="1"/>
              <a:t>OpenTelemetry</a:t>
            </a:r>
            <a:r>
              <a:rPr lang="pt-BR" dirty="0"/>
              <a:t>: uma visão geral</a:t>
            </a:r>
          </a:p>
          <a:p>
            <a:r>
              <a:rPr lang="pt-BR" dirty="0"/>
              <a:t>Monitorando a interação entre Aplicações e Bancos de Dados</a:t>
            </a:r>
          </a:p>
          <a:p>
            <a:r>
              <a:rPr lang="pt-BR" dirty="0"/>
              <a:t>Exemplos práticos</a:t>
            </a:r>
            <a:endParaRPr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179E828-404A-9AC4-EF01-D27F95B54C1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607D7243-DACB-6635-26F0-F5079286256F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8EDFA65A-0B7C-BAFB-28E6-73632E4C0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318" y="3656011"/>
            <a:ext cx="1188528" cy="118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09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35C1AF45-115D-FE15-876A-CFCD47FCD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ED4354DE-B41C-8153-C59A-8643968ED4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/>
              <a:t>Aplicações Distribuídas e </a:t>
            </a:r>
            <a:r>
              <a:rPr lang="pt-BR" sz="3600" dirty="0" err="1"/>
              <a:t>Microservices</a:t>
            </a:r>
            <a:r>
              <a:rPr lang="pt-BR" sz="3600" dirty="0"/>
              <a:t>: desafios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6196F88A-2D7E-2FDA-FDFE-7F32CA6B4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A importância da </a:t>
            </a:r>
            <a:r>
              <a:rPr lang="pt-BR" dirty="0" err="1"/>
              <a:t>Observabilidade</a:t>
            </a:r>
            <a:endParaRPr lang="pt-BR" dirty="0"/>
          </a:p>
          <a:p>
            <a:endParaRPr lang="pt-BR" dirty="0"/>
          </a:p>
          <a:p>
            <a:r>
              <a:rPr lang="pt-BR" dirty="0"/>
              <a:t>Necessidade de monitorar a comunicação entre várias aplicações e serviços de apoio utilizados pelas mesmas (como bancos de dados)</a:t>
            </a:r>
          </a:p>
          <a:p>
            <a:endParaRPr lang="pt-BR" dirty="0"/>
          </a:p>
          <a:p>
            <a:r>
              <a:rPr lang="pt-BR" dirty="0"/>
              <a:t>Como analisar todo o caminho percorrido por um fluxo de negócio?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B6AA17BF-99B6-04E2-8C7C-F100BDBDFEE5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5ADEEDE2-4DEB-DF51-C1DC-7D0F7DDB7D69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3FA4345F-03C4-F3AA-AA71-C993E95D4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235" y="1620831"/>
            <a:ext cx="2148261" cy="214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09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271D523B-D58F-C1E7-9449-9EA1D4D7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439B0476-A412-BA5A-8533-749208B4D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/>
              <a:t>Pilares da </a:t>
            </a:r>
            <a:r>
              <a:rPr lang="pt-BR" sz="3600" dirty="0" err="1"/>
              <a:t>Observabilidade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71115601-90F5-5A17-FD3F-CF50D5477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sz="2400" b="1" dirty="0"/>
              <a:t>Logs</a:t>
            </a:r>
            <a:r>
              <a:rPr lang="pt-BR" sz="2400" dirty="0"/>
              <a:t> (eventos temporais)</a:t>
            </a:r>
          </a:p>
          <a:p>
            <a:endParaRPr lang="pt-BR" sz="2400" dirty="0"/>
          </a:p>
          <a:p>
            <a:r>
              <a:rPr lang="pt-BR" sz="2400" b="1" dirty="0"/>
              <a:t>Métricas </a:t>
            </a:r>
            <a:r>
              <a:rPr lang="pt-BR" sz="2400" dirty="0"/>
              <a:t>(vários tipos de indicadores)</a:t>
            </a:r>
          </a:p>
          <a:p>
            <a:endParaRPr lang="pt-BR" sz="2400" dirty="0"/>
          </a:p>
          <a:p>
            <a:r>
              <a:rPr lang="pt-BR" sz="2400" b="1" dirty="0"/>
              <a:t>Traces</a:t>
            </a:r>
            <a:r>
              <a:rPr lang="pt-BR" sz="2400" dirty="0"/>
              <a:t> (Rastreamento)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652875AC-3B3E-52D0-E3D7-04441214AF36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B73A5E70-9115-E346-1F4D-E29237755DA0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" name="Imagem 2" descr="Faca em cima de uma superfície de madeira&#10;&#10;Descrição gerada automaticamente com confiança baixa">
            <a:extLst>
              <a:ext uri="{FF2B5EF4-FFF2-40B4-BE49-F238E27FC236}">
                <a16:creationId xmlns:a16="http://schemas.microsoft.com/office/drawing/2014/main" id="{ED83EF78-ABAD-2ECF-3B15-53971A15B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508" y="1794604"/>
            <a:ext cx="2582162" cy="1718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761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5FB70B75-AA6E-D609-CF46-86402B3B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61AFF7D1-7D02-8474-5F5F-0F619DEDF5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Observabilidade</a:t>
            </a:r>
            <a:r>
              <a:rPr lang="pt-BR" sz="3600" dirty="0"/>
              <a:t> x Aplicações x Bancos de Dados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2D45A210-76A9-02C4-CAB0-829CA59537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5472173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pt-BR" sz="2400" dirty="0"/>
              <a:t>Detectar queries e outras instruções executadas em bases de dados</a:t>
            </a:r>
          </a:p>
          <a:p>
            <a:endParaRPr lang="pt-BR" sz="2400" dirty="0"/>
          </a:p>
          <a:p>
            <a:r>
              <a:rPr lang="pt-BR" sz="2400" dirty="0"/>
              <a:t>Apontar eventuais problemas de performance</a:t>
            </a:r>
          </a:p>
          <a:p>
            <a:endParaRPr lang="pt-BR" sz="2400" dirty="0"/>
          </a:p>
          <a:p>
            <a:r>
              <a:rPr lang="pt-BR" sz="2400" dirty="0"/>
              <a:t>Entender como </a:t>
            </a:r>
            <a:r>
              <a:rPr lang="pt-BR" sz="2400" dirty="0" err="1"/>
              <a:t>ORMs</a:t>
            </a:r>
            <a:r>
              <a:rPr lang="pt-BR" sz="2400" dirty="0"/>
              <a:t> e outros mecanismos de acesso a dados interagem com uma base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C0F4FB58-BE00-B0D9-FED8-2A6EBF55A315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77E2BCA1-BD3B-D7B4-6B24-7582658CB84B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EB01C8D-6B77-8BA7-7054-6EA0C82D6F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3873" y="1207523"/>
            <a:ext cx="2148261" cy="2148261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7C84313B-9029-C045-188F-360F55719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9780" y="3110158"/>
            <a:ext cx="1498213" cy="1498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82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7CD6DA95-869F-A059-9656-9EAFF55A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81BE8D2A-796B-79CB-85C0-90F0DC1E5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Distributed</a:t>
            </a:r>
            <a:r>
              <a:rPr lang="pt-BR" sz="3600" dirty="0"/>
              <a:t> </a:t>
            </a:r>
            <a:r>
              <a:rPr lang="pt-BR" sz="3600" dirty="0" err="1"/>
              <a:t>Tracing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F3645C8A-213D-118D-2B61-2F9D1AC44E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5107793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pt-BR" sz="2400" dirty="0"/>
              <a:t>Monitoramento de transações em cenários de aplicações distribuídas</a:t>
            </a:r>
          </a:p>
          <a:p>
            <a:endParaRPr lang="pt-BR" sz="2400" dirty="0"/>
          </a:p>
          <a:p>
            <a:r>
              <a:rPr lang="pt-BR" sz="2400" dirty="0"/>
              <a:t>Comunicação entre diferentes sistemas, dependências...</a:t>
            </a:r>
          </a:p>
          <a:p>
            <a:endParaRPr lang="pt-BR" sz="2400" dirty="0"/>
          </a:p>
          <a:p>
            <a:r>
              <a:rPr lang="pt-BR" sz="2400" dirty="0"/>
              <a:t>Um melhor entendimento da arquitetura da solução e das relações entre seus componentes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60798EAF-E644-53BE-5939-D66A7D94FBD2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FA548D11-41D1-2065-293C-18FF6360CA3D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71C17C3-E7CC-D818-6713-F5545D7B865C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4424" y="1665250"/>
            <a:ext cx="3157876" cy="232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2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586BEF60-107E-8C29-6CEA-15BC96F8A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C1619B16-2F84-7BB5-6984-6D5C24A5FD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Distributed</a:t>
            </a:r>
            <a:r>
              <a:rPr lang="pt-BR" sz="3600" dirty="0"/>
              <a:t> </a:t>
            </a:r>
            <a:r>
              <a:rPr lang="pt-BR" sz="3600" dirty="0" err="1"/>
              <a:t>Tracing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CF8BBA90-BAA2-4459-6E0B-7C2FC98D7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5107793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pt-BR" sz="2400" dirty="0"/>
              <a:t>Útil na </a:t>
            </a:r>
            <a:r>
              <a:rPr lang="pt-BR" sz="2400" b="1" dirty="0"/>
              <a:t>detecção e resolução de problemas</a:t>
            </a:r>
          </a:p>
          <a:p>
            <a:endParaRPr lang="pt-BR" sz="2400" dirty="0"/>
          </a:p>
          <a:p>
            <a:r>
              <a:rPr lang="pt-BR" sz="2400" dirty="0"/>
              <a:t>Identificação de </a:t>
            </a:r>
            <a:r>
              <a:rPr lang="pt-BR" sz="2400" b="1" dirty="0"/>
              <a:t>gargalos de performance</a:t>
            </a:r>
          </a:p>
          <a:p>
            <a:endParaRPr lang="pt-BR" sz="2400" dirty="0"/>
          </a:p>
          <a:p>
            <a:r>
              <a:rPr lang="pt-BR" sz="2400" dirty="0"/>
              <a:t>Averiguação de </a:t>
            </a:r>
            <a:r>
              <a:rPr lang="pt-BR" sz="2400" b="1" dirty="0"/>
              <a:t>fraudes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D4DCB7FE-56B0-85A4-BDD8-F5B50C0218A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18B467DF-6624-3B05-7546-C3531E285A17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46B0504-270C-2EEF-C290-0A91502C8DB3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4424" y="1665250"/>
            <a:ext cx="3157876" cy="232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42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61BFACBD-A067-EAA3-2EB2-8778D1410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D094E606-EEAF-E014-C5D7-4497F262B3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Tracing</a:t>
            </a:r>
            <a:r>
              <a:rPr lang="pt-BR" sz="3600" dirty="0"/>
              <a:t>: elementos e conceitos importantes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EA53C89D-A476-6BEF-931A-DDE63CF0C5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5107793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pt-BR" sz="2400" dirty="0"/>
              <a:t>Telemetria</a:t>
            </a:r>
          </a:p>
          <a:p>
            <a:endParaRPr lang="pt-BR" sz="2400" dirty="0"/>
          </a:p>
          <a:p>
            <a:r>
              <a:rPr lang="pt-BR" sz="2400" dirty="0" err="1"/>
              <a:t>Span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Atributos (chave-valor)</a:t>
            </a:r>
          </a:p>
          <a:p>
            <a:endParaRPr lang="pt-BR" sz="2400" dirty="0"/>
          </a:p>
          <a:p>
            <a:r>
              <a:rPr lang="pt-BR" sz="2400" dirty="0"/>
              <a:t>Logs e Métricas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2111B0EA-283A-C0F7-6F16-BF16B79A8BA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7B9B5117-B63C-0527-B9B8-FBC5826D8CB1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79852AA9-C845-F2F3-8C7B-FAD7DBFA38E7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4424" y="1665250"/>
            <a:ext cx="3157876" cy="232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859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3963176E-25F3-0E39-89FD-52EEBD4C6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DC09C54A-ED87-C543-EBAE-E820824DC1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200" dirty="0" err="1"/>
              <a:t>OpenTelemetry</a:t>
            </a:r>
            <a:r>
              <a:rPr lang="en-US" sz="4200" dirty="0"/>
              <a:t>: </a:t>
            </a:r>
            <a:r>
              <a:rPr lang="en-US" sz="4200" dirty="0" err="1"/>
              <a:t>uma</a:t>
            </a:r>
            <a:r>
              <a:rPr lang="en-US" sz="4200" dirty="0"/>
              <a:t> </a:t>
            </a:r>
            <a:r>
              <a:rPr lang="en-US" sz="4200" dirty="0" err="1"/>
              <a:t>visão</a:t>
            </a:r>
            <a:r>
              <a:rPr lang="en-US" sz="4200" dirty="0"/>
              <a:t> </a:t>
            </a:r>
            <a:r>
              <a:rPr lang="en-US" sz="4200" dirty="0" err="1"/>
              <a:t>geral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98DC99DC-ADC9-FADB-5A45-BFAE21E333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Instrumentação em aplicações para coleta de logs, métricas e traces</a:t>
            </a:r>
          </a:p>
          <a:p>
            <a:endParaRPr lang="pt-BR" dirty="0"/>
          </a:p>
          <a:p>
            <a:r>
              <a:rPr lang="pt-BR" dirty="0"/>
              <a:t>Viabiliza a implementação de </a:t>
            </a:r>
            <a:r>
              <a:rPr lang="pt-BR" b="1" dirty="0" err="1"/>
              <a:t>tracing</a:t>
            </a:r>
            <a:r>
              <a:rPr lang="pt-BR" b="1" dirty="0"/>
              <a:t> distribuído </a:t>
            </a:r>
            <a:r>
              <a:rPr lang="pt-BR" dirty="0"/>
              <a:t>de forma descomplicada</a:t>
            </a:r>
          </a:p>
          <a:p>
            <a:endParaRPr lang="pt-BR" dirty="0"/>
          </a:p>
          <a:p>
            <a:r>
              <a:rPr lang="pt-BR" dirty="0"/>
              <a:t>Projeto vinculado à </a:t>
            </a:r>
            <a:r>
              <a:rPr lang="pt-BR" b="1" dirty="0"/>
              <a:t>CNCF (Cloud </a:t>
            </a:r>
            <a:r>
              <a:rPr lang="pt-BR" b="1" dirty="0" err="1"/>
              <a:t>Native</a:t>
            </a:r>
            <a:r>
              <a:rPr lang="pt-BR" b="1" dirty="0"/>
              <a:t> </a:t>
            </a:r>
            <a:r>
              <a:rPr lang="pt-BR" b="1" dirty="0" err="1"/>
              <a:t>Computing</a:t>
            </a:r>
            <a:r>
              <a:rPr lang="pt-BR" b="1" dirty="0"/>
              <a:t> Foundation)</a:t>
            </a:r>
          </a:p>
          <a:p>
            <a:endParaRPr lang="pt-BR" dirty="0"/>
          </a:p>
          <a:p>
            <a:r>
              <a:rPr lang="pt-BR" dirty="0"/>
              <a:t>Site: </a:t>
            </a:r>
            <a:r>
              <a:rPr lang="pt-BR" dirty="0">
                <a:hlinkClick r:id="rId3"/>
              </a:rPr>
              <a:t>https://opentelemetry.io/</a:t>
            </a:r>
            <a:endParaRPr lang="pt-BR" dirty="0"/>
          </a:p>
          <a:p>
            <a:endParaRPr lang="pt-BR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D75803CD-6440-AA4D-D825-360306C39BB8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B9484C40-38AB-8C13-1455-3C52B51AEAF5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4619A49-8AD7-838E-D75A-BF94026FE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28260" y="3966227"/>
            <a:ext cx="2735220" cy="10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289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4B989BA1-93D0-F360-4299-EC2E5BC5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E85A9D80-10E8-3428-B27A-13C459DE2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200" dirty="0" err="1"/>
              <a:t>OpenTelemetry</a:t>
            </a:r>
            <a:r>
              <a:rPr lang="en-US" sz="4200" dirty="0"/>
              <a:t>: </a:t>
            </a:r>
            <a:r>
              <a:rPr lang="en-US" sz="4200" dirty="0" err="1"/>
              <a:t>uma</a:t>
            </a:r>
            <a:r>
              <a:rPr lang="en-US" sz="4200" dirty="0"/>
              <a:t> </a:t>
            </a:r>
            <a:r>
              <a:rPr lang="en-US" sz="4200" dirty="0" err="1"/>
              <a:t>visão</a:t>
            </a:r>
            <a:r>
              <a:rPr lang="en-US" sz="4200" dirty="0"/>
              <a:t> </a:t>
            </a:r>
            <a:r>
              <a:rPr lang="en-US" sz="4200" dirty="0" err="1"/>
              <a:t>geral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7747F890-41A6-0C61-34E8-1203352F0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Suporte a múltiplas </a:t>
            </a:r>
            <a:r>
              <a:rPr lang="pt-BR" dirty="0" err="1"/>
              <a:t>stacks</a:t>
            </a:r>
            <a:r>
              <a:rPr lang="pt-BR" dirty="0"/>
              <a:t>: </a:t>
            </a:r>
            <a:r>
              <a:rPr lang="pt-BR" b="1" dirty="0"/>
              <a:t>.NET, Java, Node.js, Python, C++, Go, </a:t>
            </a:r>
            <a:r>
              <a:rPr lang="pt-BR" b="1" dirty="0" err="1"/>
              <a:t>Erlang</a:t>
            </a:r>
            <a:r>
              <a:rPr lang="pt-BR" b="1" dirty="0"/>
              <a:t>/Elixir, PHP, Ruby, </a:t>
            </a:r>
            <a:r>
              <a:rPr lang="pt-BR" b="1" dirty="0" err="1"/>
              <a:t>Rust</a:t>
            </a:r>
            <a:r>
              <a:rPr lang="pt-BR" b="1" dirty="0"/>
              <a:t>, Swift...</a:t>
            </a:r>
          </a:p>
          <a:p>
            <a:endParaRPr lang="pt-BR" dirty="0"/>
          </a:p>
          <a:p>
            <a:r>
              <a:rPr lang="pt-BR" b="1" dirty="0" err="1"/>
              <a:t>Exporters</a:t>
            </a:r>
            <a:r>
              <a:rPr lang="pt-BR" dirty="0"/>
              <a:t>/soluções de monitoramento com suporte: </a:t>
            </a:r>
            <a:r>
              <a:rPr lang="pt-BR" b="1" dirty="0"/>
              <a:t>Console, </a:t>
            </a:r>
            <a:r>
              <a:rPr lang="pt-BR" b="1" dirty="0" err="1"/>
              <a:t>Grafana</a:t>
            </a:r>
            <a:r>
              <a:rPr lang="pt-BR" b="1" dirty="0"/>
              <a:t> Tempo, Jaeger, </a:t>
            </a:r>
            <a:r>
              <a:rPr lang="pt-BR" b="1" dirty="0" err="1"/>
              <a:t>Zipkin</a:t>
            </a:r>
            <a:r>
              <a:rPr lang="pt-BR" b="1" dirty="0"/>
              <a:t>, </a:t>
            </a:r>
            <a:r>
              <a:rPr lang="pt-BR" b="1" dirty="0" err="1"/>
              <a:t>Elastic</a:t>
            </a:r>
            <a:r>
              <a:rPr lang="pt-BR" b="1" dirty="0"/>
              <a:t> APM, </a:t>
            </a:r>
            <a:r>
              <a:rPr lang="pt-BR" b="1" dirty="0" err="1"/>
              <a:t>Prometheus</a:t>
            </a:r>
            <a:r>
              <a:rPr lang="pt-BR" b="1" dirty="0"/>
              <a:t>, Azure Monitor, </a:t>
            </a:r>
            <a:r>
              <a:rPr lang="pt-BR" b="1" dirty="0" err="1"/>
              <a:t>Application</a:t>
            </a:r>
            <a:r>
              <a:rPr lang="pt-BR" b="1" dirty="0"/>
              <a:t> Insights, </a:t>
            </a:r>
            <a:r>
              <a:rPr lang="pt-BR" b="1" dirty="0" err="1"/>
              <a:t>Dynatrace</a:t>
            </a:r>
            <a:r>
              <a:rPr lang="pt-BR" b="1" dirty="0"/>
              <a:t>, AWS </a:t>
            </a:r>
            <a:r>
              <a:rPr lang="pt-BR" b="1" dirty="0" err="1"/>
              <a:t>CloudWatch</a:t>
            </a:r>
            <a:r>
              <a:rPr lang="pt-BR" b="1" dirty="0"/>
              <a:t>, New </a:t>
            </a:r>
            <a:r>
              <a:rPr lang="pt-BR" b="1" dirty="0" err="1"/>
              <a:t>Relic</a:t>
            </a:r>
            <a:r>
              <a:rPr lang="pt-BR" b="1" dirty="0"/>
              <a:t>...</a:t>
            </a:r>
          </a:p>
          <a:p>
            <a:endParaRPr lang="pt-BR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57D68BBD-E7CE-79FE-AE7E-780BCF58449D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56E124EE-32E0-689F-390B-2B1C9FCB4235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5A22A551-CDEB-65A2-002F-B53B1D4E5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8260" y="3966227"/>
            <a:ext cx="2735220" cy="10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92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6BCD94E5-5BFD-17F2-FC23-B73C3EFC1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1A78456E-F2ED-52EA-FCD8-7BA6AF812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200" dirty="0" err="1"/>
              <a:t>OpenTelemetry</a:t>
            </a:r>
            <a:r>
              <a:rPr lang="en-US" sz="4200" dirty="0"/>
              <a:t>: </a:t>
            </a:r>
            <a:r>
              <a:rPr lang="en-US" sz="4200" dirty="0" err="1"/>
              <a:t>uma</a:t>
            </a:r>
            <a:r>
              <a:rPr lang="en-US" sz="4200" dirty="0"/>
              <a:t> </a:t>
            </a:r>
            <a:r>
              <a:rPr lang="en-US" sz="4200" dirty="0" err="1"/>
              <a:t>visão</a:t>
            </a:r>
            <a:r>
              <a:rPr lang="en-US" sz="4200" dirty="0"/>
              <a:t> </a:t>
            </a:r>
            <a:r>
              <a:rPr lang="en-US" sz="4200" dirty="0" err="1"/>
              <a:t>geral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D960F398-92E4-2B3D-3FE5-EF764F0885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dirty="0"/>
              <a:t>Suporte a múltiplas </a:t>
            </a:r>
            <a:r>
              <a:rPr lang="pt-BR" dirty="0" err="1"/>
              <a:t>stacks</a:t>
            </a:r>
            <a:r>
              <a:rPr lang="pt-BR" dirty="0"/>
              <a:t>: </a:t>
            </a:r>
            <a:r>
              <a:rPr lang="pt-BR" b="1" dirty="0"/>
              <a:t>.NET, Java, Node.js, Python, C++, Go, </a:t>
            </a:r>
            <a:r>
              <a:rPr lang="pt-BR" b="1" dirty="0" err="1"/>
              <a:t>Erlang</a:t>
            </a:r>
            <a:r>
              <a:rPr lang="pt-BR" b="1" dirty="0"/>
              <a:t>/Elixir, PHP, Ruby, </a:t>
            </a:r>
            <a:r>
              <a:rPr lang="pt-BR" b="1" dirty="0" err="1"/>
              <a:t>Rust</a:t>
            </a:r>
            <a:r>
              <a:rPr lang="pt-BR" b="1" dirty="0"/>
              <a:t>, Swift...</a:t>
            </a:r>
          </a:p>
          <a:p>
            <a:endParaRPr lang="pt-BR" dirty="0"/>
          </a:p>
          <a:p>
            <a:r>
              <a:rPr lang="pt-BR" b="1" dirty="0" err="1"/>
              <a:t>Exporters</a:t>
            </a:r>
            <a:r>
              <a:rPr lang="pt-BR" dirty="0"/>
              <a:t>/soluções de monitoramento com suporte: </a:t>
            </a:r>
            <a:r>
              <a:rPr lang="pt-BR" b="1" dirty="0"/>
              <a:t>Console, </a:t>
            </a:r>
            <a:r>
              <a:rPr lang="pt-BR" b="1" dirty="0" err="1"/>
              <a:t>Grafana</a:t>
            </a:r>
            <a:r>
              <a:rPr lang="pt-BR" b="1" dirty="0"/>
              <a:t> Tempo, Jaeger, </a:t>
            </a:r>
            <a:r>
              <a:rPr lang="pt-BR" b="1" dirty="0" err="1"/>
              <a:t>Zipkin</a:t>
            </a:r>
            <a:r>
              <a:rPr lang="pt-BR" b="1" dirty="0"/>
              <a:t>, </a:t>
            </a:r>
            <a:r>
              <a:rPr lang="pt-BR" b="1" dirty="0" err="1"/>
              <a:t>Elastic</a:t>
            </a:r>
            <a:r>
              <a:rPr lang="pt-BR" b="1" dirty="0"/>
              <a:t> APM, </a:t>
            </a:r>
            <a:r>
              <a:rPr lang="pt-BR" b="1" dirty="0" err="1"/>
              <a:t>Prometheus</a:t>
            </a:r>
            <a:r>
              <a:rPr lang="pt-BR" b="1" dirty="0"/>
              <a:t>, Azure Monitor, </a:t>
            </a:r>
            <a:r>
              <a:rPr lang="pt-BR" b="1" dirty="0" err="1"/>
              <a:t>Application</a:t>
            </a:r>
            <a:r>
              <a:rPr lang="pt-BR" b="1" dirty="0"/>
              <a:t> Insights, </a:t>
            </a:r>
            <a:r>
              <a:rPr lang="pt-BR" b="1" dirty="0" err="1"/>
              <a:t>Dynatrace</a:t>
            </a:r>
            <a:r>
              <a:rPr lang="pt-BR" b="1" dirty="0"/>
              <a:t>, AWS </a:t>
            </a:r>
            <a:r>
              <a:rPr lang="pt-BR" b="1" dirty="0" err="1"/>
              <a:t>CloudWatch</a:t>
            </a:r>
            <a:r>
              <a:rPr lang="pt-BR" b="1" dirty="0"/>
              <a:t>, New </a:t>
            </a:r>
            <a:r>
              <a:rPr lang="pt-BR" b="1" dirty="0" err="1"/>
              <a:t>Relic</a:t>
            </a:r>
            <a:r>
              <a:rPr lang="pt-BR" b="1" dirty="0"/>
              <a:t>...</a:t>
            </a:r>
          </a:p>
          <a:p>
            <a:endParaRPr lang="pt-BR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D7E3B319-2E5C-2CF4-F1FD-A629104D2DA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9CF9AE9C-2A23-B709-A783-5F69898B8122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F6D8599C-A78B-8F32-25CD-AD2A22999B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8260" y="3966227"/>
            <a:ext cx="2735220" cy="10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34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B8938FF4-D8D4-76E4-2865-0671EFF7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2BBF075F-61D1-27DF-69FD-7C66A979B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200" dirty="0" err="1"/>
              <a:t>OpenTelemetry</a:t>
            </a:r>
            <a:r>
              <a:rPr lang="en-US" sz="4200" dirty="0"/>
              <a:t>: </a:t>
            </a:r>
            <a:r>
              <a:rPr lang="en-US" sz="4200" dirty="0" err="1"/>
              <a:t>uma</a:t>
            </a:r>
            <a:r>
              <a:rPr lang="en-US" sz="4200" dirty="0"/>
              <a:t> </a:t>
            </a:r>
            <a:r>
              <a:rPr lang="en-US" sz="4200" dirty="0" err="1"/>
              <a:t>visão</a:t>
            </a:r>
            <a:r>
              <a:rPr lang="en-US" sz="4200" dirty="0"/>
              <a:t> </a:t>
            </a:r>
            <a:r>
              <a:rPr lang="en-US" sz="4200" dirty="0" err="1"/>
              <a:t>geral</a:t>
            </a:r>
            <a:endParaRPr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547C860A-48DD-D903-F117-B5175E5716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10275"/>
            <a:ext cx="8520600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b="1" dirty="0" err="1"/>
              <a:t>OpenTelemetry</a:t>
            </a:r>
            <a:r>
              <a:rPr lang="pt-BR" b="1" dirty="0"/>
              <a:t> </a:t>
            </a:r>
            <a:r>
              <a:rPr lang="pt-BR" b="1" dirty="0" err="1"/>
              <a:t>Collector</a:t>
            </a:r>
            <a:r>
              <a:rPr lang="pt-BR" dirty="0"/>
              <a:t>: mecanismo para receber, processar e exportar dados de telemetria</a:t>
            </a:r>
          </a:p>
          <a:p>
            <a:endParaRPr lang="pt-BR" dirty="0"/>
          </a:p>
          <a:p>
            <a:r>
              <a:rPr lang="pt-BR" b="1" dirty="0" err="1"/>
              <a:t>OpenTelemetry</a:t>
            </a:r>
            <a:r>
              <a:rPr lang="pt-BR" b="1" dirty="0"/>
              <a:t> </a:t>
            </a:r>
            <a:r>
              <a:rPr lang="pt-BR" b="1" dirty="0" err="1"/>
              <a:t>Protocol</a:t>
            </a:r>
            <a:r>
              <a:rPr lang="pt-BR" b="1" dirty="0"/>
              <a:t> (OTLP)</a:t>
            </a:r>
            <a:r>
              <a:rPr lang="pt-BR" dirty="0"/>
              <a:t> → suporte a </a:t>
            </a:r>
            <a:r>
              <a:rPr lang="pt-BR" b="1" dirty="0"/>
              <a:t>HTTP</a:t>
            </a:r>
            <a:r>
              <a:rPr lang="pt-BR" dirty="0"/>
              <a:t> (porta 4318) e </a:t>
            </a:r>
            <a:r>
              <a:rPr lang="pt-BR" b="1" dirty="0" err="1"/>
              <a:t>gRPC</a:t>
            </a:r>
            <a:r>
              <a:rPr lang="pt-BR" dirty="0"/>
              <a:t> (porta 4317)</a:t>
            </a:r>
          </a:p>
          <a:p>
            <a:endParaRPr lang="pt-BR" dirty="0"/>
          </a:p>
          <a:p>
            <a:r>
              <a:rPr lang="pt-BR" b="1" dirty="0" err="1"/>
              <a:t>Sampling</a:t>
            </a:r>
            <a:r>
              <a:rPr lang="pt-BR" dirty="0"/>
              <a:t> para coletar apenas percentuais da instrumentação (redução de custos, uso mais reacional de recursos computacionais)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24598A25-D5FB-3C87-3E45-860F1BCC4469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E3786EB2-8C38-1F63-21A8-CCB77BBE1AD6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92F04B9E-8771-0293-D21A-79DBD3901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8260" y="3966227"/>
            <a:ext cx="2735220" cy="102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59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F5D75A1-AE76-2B46-525D-E1C28EED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376BFAEC-7A72-D047-3C57-9316CAC92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Grafana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84CC3A53-9B7B-CD39-DF3E-2C88CCE4DC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lang="pt-BR" sz="2400" b="1" dirty="0"/>
              <a:t>Monitoramento e </a:t>
            </a:r>
            <a:r>
              <a:rPr lang="pt-BR" sz="2400" b="1" dirty="0" err="1"/>
              <a:t>observabilidade</a:t>
            </a:r>
            <a:r>
              <a:rPr lang="pt-BR" sz="2400" b="1" dirty="0"/>
              <a:t> de aplicações e infraestrutura</a:t>
            </a:r>
          </a:p>
          <a:p>
            <a:endParaRPr lang="pt-BR" sz="2400" dirty="0"/>
          </a:p>
          <a:p>
            <a:r>
              <a:rPr lang="pt-BR" sz="2400" b="1" dirty="0"/>
              <a:t>Dashboards </a:t>
            </a:r>
            <a:r>
              <a:rPr lang="pt-BR" sz="2400" dirty="0"/>
              <a:t>para visualização</a:t>
            </a:r>
          </a:p>
          <a:p>
            <a:endParaRPr lang="pt-BR" sz="2400" dirty="0"/>
          </a:p>
          <a:p>
            <a:r>
              <a:rPr lang="pt-BR" sz="2400" b="1" dirty="0"/>
              <a:t>Alertas </a:t>
            </a:r>
            <a:r>
              <a:rPr lang="pt-BR" sz="2400" dirty="0"/>
              <a:t>de monitoramento</a:t>
            </a:r>
          </a:p>
          <a:p>
            <a:endParaRPr lang="pt-BR" sz="2400" dirty="0"/>
          </a:p>
          <a:p>
            <a:r>
              <a:rPr lang="pt-BR" sz="2400" b="1" dirty="0"/>
              <a:t>Open </a:t>
            </a:r>
            <a:r>
              <a:rPr lang="pt-BR" sz="2400" b="1" dirty="0" err="1"/>
              <a:t>source</a:t>
            </a:r>
            <a:endParaRPr lang="pt-BR" sz="2400" b="1" dirty="0"/>
          </a:p>
          <a:p>
            <a:endParaRPr lang="pt-BR" sz="2400" dirty="0"/>
          </a:p>
          <a:p>
            <a:r>
              <a:rPr lang="pt-BR" sz="2400" dirty="0"/>
              <a:t>Site: </a:t>
            </a:r>
            <a:r>
              <a:rPr lang="pt-BR" sz="2400" dirty="0">
                <a:hlinkClick r:id="rId3"/>
              </a:rPr>
              <a:t>https://grafana.com/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C2233545-A1C0-5D7F-FD9A-0339473F98A5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0C4116B5-BAB5-45B2-F605-4861E6753947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24AB2AE5-54A5-65CB-32FD-B70AC68C1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152" y="1551216"/>
            <a:ext cx="2096518" cy="218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62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1853A9E4-6239-E97F-2E94-78741A77A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57848744-8A21-6A92-BFC1-199722C7B7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Grafana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3BFDB1B9-97E3-C957-A618-471CB5F0D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5620749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pt-BR" sz="2400" b="1" dirty="0"/>
              <a:t>Flexibilidade</a:t>
            </a:r>
            <a:r>
              <a:rPr lang="pt-BR" sz="2400" dirty="0"/>
              <a:t>, com suporte a diferentes tecnologias/fontes de dados (Data </a:t>
            </a:r>
            <a:r>
              <a:rPr lang="pt-BR" sz="2400" dirty="0" err="1"/>
              <a:t>Sources</a:t>
            </a:r>
            <a:r>
              <a:rPr lang="pt-BR" sz="2400" dirty="0"/>
              <a:t>)</a:t>
            </a:r>
          </a:p>
          <a:p>
            <a:endParaRPr lang="pt-BR" sz="2400" dirty="0"/>
          </a:p>
          <a:p>
            <a:r>
              <a:rPr lang="pt-BR" sz="2400" dirty="0"/>
              <a:t>Exemplos de possíveis Data </a:t>
            </a:r>
            <a:r>
              <a:rPr lang="pt-BR" sz="2400" dirty="0" err="1"/>
              <a:t>Sources</a:t>
            </a:r>
            <a:r>
              <a:rPr lang="pt-BR" sz="2400" dirty="0"/>
              <a:t>: </a:t>
            </a:r>
            <a:r>
              <a:rPr lang="pt-BR" sz="2400" b="1" dirty="0"/>
              <a:t>Azure Monitor, AWS </a:t>
            </a:r>
            <a:r>
              <a:rPr lang="pt-BR" sz="2400" b="1" dirty="0" err="1"/>
              <a:t>CloudWatch</a:t>
            </a:r>
            <a:r>
              <a:rPr lang="pt-BR" sz="2400" b="1" dirty="0"/>
              <a:t>, </a:t>
            </a:r>
            <a:r>
              <a:rPr lang="pt-BR" sz="2400" b="1" dirty="0" err="1"/>
              <a:t>Prometheus</a:t>
            </a:r>
            <a:r>
              <a:rPr lang="pt-BR" sz="2400" b="1" dirty="0"/>
              <a:t>, SQL Server, PostgreSQL, Oracle...</a:t>
            </a:r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0E9BB0AF-9700-8502-D9A2-53E8C7773AA3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1849F71D-B99D-51A4-FA73-0BD08617D3CC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219AB4BD-FC34-9875-3170-A736156F2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152" y="1551216"/>
            <a:ext cx="2096518" cy="218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49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368448D1-742A-D1FF-6BC9-9047BC24A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9FED0539-5022-1126-E641-79480A73D6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Grafana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20A36FA9-EAED-AE79-C914-DD8C26DD8D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sz="2400" dirty="0"/>
              <a:t>Visualização unificada de múltiplas fontes</a:t>
            </a:r>
          </a:p>
          <a:p>
            <a:endParaRPr lang="pt-BR" sz="2400" dirty="0"/>
          </a:p>
          <a:p>
            <a:r>
              <a:rPr lang="pt-BR" sz="2400" dirty="0"/>
              <a:t>Centenas de dashboards pré-definidos</a:t>
            </a:r>
          </a:p>
          <a:p>
            <a:endParaRPr lang="pt-BR" sz="2400" dirty="0"/>
          </a:p>
          <a:p>
            <a:r>
              <a:rPr lang="pt-BR" sz="2400" dirty="0"/>
              <a:t>Customização de dashboards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9403169-F9C0-21F4-0FFA-CCA3068CED16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051716CE-3711-7DC1-3A65-1031E6CBFF6C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C549A0F2-0F0A-0220-345F-A0F0F0AD8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152" y="1551216"/>
            <a:ext cx="2096518" cy="218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96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B4807A57-DB6F-807B-F03D-9499AC5D4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B448DD8A-964C-57CC-7E58-AE448DFE2F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Grafana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59932821-31CA-E047-3924-F673D3E66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sz="2400" dirty="0"/>
              <a:t>Facilidade de uso, com uma interface intuitiva e amigável</a:t>
            </a:r>
          </a:p>
          <a:p>
            <a:endParaRPr lang="pt-BR" sz="2400" dirty="0"/>
          </a:p>
          <a:p>
            <a:r>
              <a:rPr lang="pt-BR" sz="2400" dirty="0"/>
              <a:t>Principal componente de todo um ecossistema de </a:t>
            </a:r>
            <a:r>
              <a:rPr lang="pt-BR" sz="2400" dirty="0" err="1"/>
              <a:t>observabilidade</a:t>
            </a:r>
            <a:r>
              <a:rPr lang="pt-BR" sz="2400" dirty="0"/>
              <a:t> e monitoramento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CD678F67-D7C5-91F5-F7F8-8F491CAC6C6B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9E4ABBE2-AE73-BF76-3715-41149E92F564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FF5C4C2-B3D3-411F-E402-BF9E63E54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152" y="1551216"/>
            <a:ext cx="2096518" cy="218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13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26EB0436-2002-8192-FD00-989972EB0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5687C8D1-66EB-160A-C592-497AA5C2B3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dirty="0"/>
              <a:t>Ecossistema </a:t>
            </a:r>
            <a:r>
              <a:rPr lang="pt-BR" sz="3200" dirty="0" err="1"/>
              <a:t>Grafana</a:t>
            </a:r>
            <a:r>
              <a:rPr lang="pt-BR" sz="3200" dirty="0"/>
              <a:t> + </a:t>
            </a:r>
            <a:r>
              <a:rPr lang="pt-BR" sz="3200" dirty="0" err="1"/>
              <a:t>OpenTelemetry</a:t>
            </a:r>
            <a:r>
              <a:rPr lang="pt-BR" sz="3200" dirty="0"/>
              <a:t> + </a:t>
            </a:r>
            <a:r>
              <a:rPr lang="pt-BR" sz="3200" dirty="0" err="1"/>
              <a:t>Prometheus</a:t>
            </a:r>
            <a:endParaRPr sz="20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A8B3C770-3FBF-1BD8-D49D-F3BC65639BA0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3F21AF48-419F-EFDA-0521-2625692D80D8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DD909EF-3C6B-8CCD-F39B-E47F7E383BD7}"/>
              </a:ext>
            </a:extLst>
          </p:cNvPr>
          <p:cNvSpPr/>
          <p:nvPr/>
        </p:nvSpPr>
        <p:spPr>
          <a:xfrm>
            <a:off x="1135626" y="1240242"/>
            <a:ext cx="6960294" cy="32580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D0B53213-008B-6A59-18AA-226EFF526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091" y="1471910"/>
            <a:ext cx="6479822" cy="293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40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73660232-73FB-5CA5-9A9B-34DD49EF1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B66C37A8-EA3E-4897-CADA-04BA55A2F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Grafana</a:t>
            </a:r>
            <a:r>
              <a:rPr lang="pt-BR" sz="3600" dirty="0"/>
              <a:t> GROT </a:t>
            </a:r>
            <a:r>
              <a:rPr lang="pt-BR" sz="3600" dirty="0" err="1"/>
              <a:t>Academy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5403626F-AA43-791B-CDEE-B1E79ACE4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138515"/>
            <a:ext cx="6232535" cy="2469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pt-BR" sz="2400" b="1" dirty="0"/>
              <a:t>Treinamentos </a:t>
            </a:r>
            <a:r>
              <a:rPr lang="pt-BR" sz="2400" dirty="0"/>
              <a:t>e </a:t>
            </a:r>
            <a:r>
              <a:rPr lang="pt-BR" sz="2400" b="1" dirty="0"/>
              <a:t>Certificações</a:t>
            </a:r>
            <a:r>
              <a:rPr lang="pt-BR" sz="2400" dirty="0"/>
              <a:t> totalmente </a:t>
            </a:r>
            <a:r>
              <a:rPr lang="pt-BR" sz="2400" b="1" dirty="0"/>
              <a:t>gratuitos </a:t>
            </a:r>
            <a:r>
              <a:rPr lang="pt-BR" sz="2400" dirty="0"/>
              <a:t>na </a:t>
            </a:r>
            <a:r>
              <a:rPr lang="pt-BR" sz="2400" b="1" dirty="0" err="1"/>
              <a:t>stack</a:t>
            </a:r>
            <a:r>
              <a:rPr lang="pt-BR" sz="2400" b="1" dirty="0"/>
              <a:t> </a:t>
            </a:r>
            <a:r>
              <a:rPr lang="pt-BR" sz="2400" b="1" dirty="0" err="1"/>
              <a:t>Grafana</a:t>
            </a:r>
            <a:endParaRPr lang="pt-BR" sz="2400" b="1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EDB0F86-A229-BD16-6FEE-48D603A1E19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4A896484-7DFB-BBA0-23E6-0F019C627581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4FBA37C8-B0B0-8166-ADC2-E8C309AAE1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5152" y="1551216"/>
            <a:ext cx="2096518" cy="218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81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89CB15E-1C20-1825-1CCB-7DDB9D84F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" y="-1"/>
            <a:ext cx="9144002" cy="5143501"/>
          </a:xfrm>
          <a:prstGeom prst="rect">
            <a:avLst/>
          </a:prstGeom>
        </p:spPr>
      </p:pic>
      <p:pic>
        <p:nvPicPr>
          <p:cNvPr id="5" name="Espaço Reservado para Conteúdo 10">
            <a:extLst>
              <a:ext uri="{FF2B5EF4-FFF2-40B4-BE49-F238E27FC236}">
                <a16:creationId xmlns:a16="http://schemas.microsoft.com/office/drawing/2014/main" id="{5F294C81-B2CB-EB06-2F01-AFF98BFB0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827" y="1690071"/>
            <a:ext cx="1504335" cy="15043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6600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A0643BF6-CF27-0899-1BE5-FB84C0D8B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3244D34E-F8DA-213E-F3BA-B1772CB332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Alloy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7CDA40C0-A828-AB2D-7B83-8B14872EF6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pt-BR" sz="2400" b="1" dirty="0" err="1"/>
              <a:t>Collector</a:t>
            </a:r>
            <a:r>
              <a:rPr lang="pt-BR" sz="2400" b="1" dirty="0"/>
              <a:t> baseado no </a:t>
            </a:r>
            <a:r>
              <a:rPr lang="pt-BR" sz="2400" b="1" dirty="0" err="1"/>
              <a:t>OpenTelemetry</a:t>
            </a:r>
            <a:r>
              <a:rPr lang="pt-BR" sz="2400" b="1" dirty="0"/>
              <a:t> </a:t>
            </a:r>
            <a:r>
              <a:rPr lang="pt-BR" sz="2400" b="1" dirty="0" err="1"/>
              <a:t>Protocol</a:t>
            </a:r>
            <a:r>
              <a:rPr lang="pt-BR" sz="2400" b="1" dirty="0"/>
              <a:t> (OTLP)</a:t>
            </a:r>
          </a:p>
          <a:p>
            <a:endParaRPr lang="pt-BR" sz="2400" dirty="0"/>
          </a:p>
          <a:p>
            <a:r>
              <a:rPr lang="pt-BR" sz="2400" dirty="0"/>
              <a:t>Open </a:t>
            </a:r>
            <a:r>
              <a:rPr lang="pt-BR" sz="2400" dirty="0" err="1"/>
              <a:t>source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Pode exigir o uso de </a:t>
            </a:r>
            <a:r>
              <a:rPr lang="pt-BR" sz="2400" dirty="0" err="1"/>
              <a:t>packages</a:t>
            </a:r>
            <a:r>
              <a:rPr lang="pt-BR" sz="2400" dirty="0"/>
              <a:t> específicos em aplicações, dependendo da </a:t>
            </a:r>
            <a:r>
              <a:rPr lang="pt-BR" sz="2400" dirty="0" err="1"/>
              <a:t>stack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Site:</a:t>
            </a:r>
            <a:br>
              <a:rPr lang="pt-BR" sz="2400" dirty="0"/>
            </a:br>
            <a:r>
              <a:rPr lang="pt-BR" sz="2400" dirty="0">
                <a:hlinkClick r:id="rId3"/>
              </a:rPr>
              <a:t>https://grafana.com/oss/alloy-opentelemetry-collector/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975D4623-76EF-D333-F540-B64339EB564D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AE884189-F80E-DC77-7434-9032816FFE9A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04CE2B4-FAB2-188E-2839-063982947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2870" y="1953153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4706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D768608B-7DEE-D151-69F1-645D852A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395E3BBF-ECC3-CD7E-2A19-37E1FD917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Alloy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78A53F26-8815-E94C-3F29-50205C6D8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r>
              <a:rPr lang="pt-BR" sz="2400" dirty="0"/>
              <a:t>Algumas </a:t>
            </a:r>
            <a:r>
              <a:rPr lang="pt-BR" sz="2400" dirty="0" err="1"/>
              <a:t>stacks</a:t>
            </a:r>
            <a:r>
              <a:rPr lang="pt-BR" sz="2400" dirty="0"/>
              <a:t> suportadas: </a:t>
            </a:r>
            <a:r>
              <a:rPr lang="pt-BR" sz="2400" b="1" dirty="0"/>
              <a:t>.NET, Java, Node, Python, PHP, Go...</a:t>
            </a:r>
          </a:p>
          <a:p>
            <a:endParaRPr lang="pt-BR" sz="2400" dirty="0"/>
          </a:p>
          <a:p>
            <a:r>
              <a:rPr lang="pt-BR" sz="2400" dirty="0"/>
              <a:t>Configuração em </a:t>
            </a:r>
            <a:r>
              <a:rPr lang="pt-BR" sz="2400" b="1" dirty="0"/>
              <a:t>.NET</a:t>
            </a:r>
            <a:r>
              <a:rPr lang="pt-BR" sz="2400" dirty="0"/>
              <a:t>: </a:t>
            </a:r>
            <a:r>
              <a:rPr lang="pt-BR" sz="2400" b="1" dirty="0"/>
              <a:t>uso de um </a:t>
            </a:r>
            <a:r>
              <a:rPr lang="pt-BR" sz="2400" b="1" dirty="0" err="1"/>
              <a:t>package</a:t>
            </a:r>
            <a:r>
              <a:rPr lang="pt-BR" sz="2400" b="1" dirty="0"/>
              <a:t> </a:t>
            </a:r>
            <a:r>
              <a:rPr lang="pt-BR" sz="2400" b="1" dirty="0" err="1"/>
              <a:t>NuGet</a:t>
            </a:r>
            <a:r>
              <a:rPr lang="pt-BR" sz="2400" b="1" dirty="0"/>
              <a:t> específico</a:t>
            </a:r>
          </a:p>
          <a:p>
            <a:endParaRPr lang="pt-BR" sz="2400" dirty="0"/>
          </a:p>
          <a:p>
            <a:r>
              <a:rPr lang="pt-BR" sz="2400" dirty="0"/>
              <a:t>Configuração em </a:t>
            </a:r>
            <a:r>
              <a:rPr lang="pt-BR" sz="2400" b="1" dirty="0"/>
              <a:t>Java</a:t>
            </a:r>
            <a:r>
              <a:rPr lang="pt-BR" sz="2400" dirty="0"/>
              <a:t>: uso de um </a:t>
            </a:r>
            <a:r>
              <a:rPr lang="pt-BR" sz="2400" b="1" dirty="0"/>
              <a:t>Java Agent (.</a:t>
            </a:r>
            <a:r>
              <a:rPr lang="pt-BR" sz="2400" b="1" dirty="0" err="1"/>
              <a:t>jar</a:t>
            </a:r>
            <a:r>
              <a:rPr lang="pt-BR" sz="2400" b="1" dirty="0"/>
              <a:t>) específico</a:t>
            </a:r>
            <a:r>
              <a:rPr lang="pt-BR" sz="2400" dirty="0"/>
              <a:t>, carregado na inicialização da aplicação</a:t>
            </a:r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AD8E53B3-94C5-4068-E67A-F618FE483172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06CF509F-40C9-AF53-CE22-BBA7AE3D8923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711004C-7714-33C8-E2CB-3C347D841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2870" y="1953153"/>
            <a:ext cx="18288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34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5408B02A-96D3-36F3-16BD-AE7B92CD1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0BE5CE77-7EA0-51F3-B9FC-F96FD8C0A4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Prometheus</a:t>
            </a:r>
            <a:r>
              <a:rPr lang="pt-BR" sz="3600" dirty="0"/>
              <a:t>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89BE3DA8-038A-2A7B-6822-7133943571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lang="pt-BR" sz="2400" dirty="0"/>
              <a:t>Solução para coleta, armazenamento e consulta de métricas de monitoramento</a:t>
            </a:r>
          </a:p>
          <a:p>
            <a:endParaRPr lang="pt-BR" sz="2400" dirty="0"/>
          </a:p>
          <a:p>
            <a:r>
              <a:rPr lang="pt-BR" sz="2400" dirty="0"/>
              <a:t>Open </a:t>
            </a:r>
            <a:r>
              <a:rPr lang="pt-BR" sz="2400" dirty="0" err="1"/>
              <a:t>source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A combinação </a:t>
            </a:r>
            <a:r>
              <a:rPr lang="pt-BR" sz="2400" b="1" dirty="0" err="1"/>
              <a:t>Prometheus</a:t>
            </a:r>
            <a:r>
              <a:rPr lang="pt-BR" sz="2400" b="1" dirty="0"/>
              <a:t> + </a:t>
            </a:r>
            <a:r>
              <a:rPr lang="pt-BR" sz="2400" b="1" dirty="0" err="1"/>
              <a:t>Grafana</a:t>
            </a:r>
            <a:r>
              <a:rPr lang="pt-BR" sz="2400" b="1" dirty="0"/>
              <a:t> </a:t>
            </a:r>
            <a:r>
              <a:rPr lang="pt-BR" sz="2400" dirty="0"/>
              <a:t>é uma presença praticamente certa em ambientes </a:t>
            </a:r>
            <a:r>
              <a:rPr lang="pt-BR" sz="2400" b="1" dirty="0" err="1"/>
              <a:t>Kubernetes</a:t>
            </a:r>
            <a:r>
              <a:rPr lang="pt-BR" sz="2400" b="1" dirty="0"/>
              <a:t> </a:t>
            </a:r>
          </a:p>
          <a:p>
            <a:endParaRPr lang="pt-BR" sz="2400" dirty="0"/>
          </a:p>
          <a:p>
            <a:r>
              <a:rPr lang="pt-BR" sz="2400" dirty="0"/>
              <a:t>Site: </a:t>
            </a:r>
            <a:r>
              <a:rPr lang="pt-BR" sz="2400" dirty="0">
                <a:hlinkClick r:id="rId3"/>
              </a:rPr>
              <a:t>https://prometheus.io/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04C2217E-EEF3-51DF-C3DB-23A5A046070F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A24B12E4-896D-C511-214F-6735DFEACDEF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E51CB9F-6E69-3732-A9C5-90DE34117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4235" y="1632280"/>
            <a:ext cx="2166425" cy="21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2141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0810145-B277-9C82-76C3-6BDB16DB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56D34522-B2CC-2FD9-6677-B64F21BA07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/>
              <a:t>Loki: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EF640CF4-A506-0741-579F-D076F76BB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pt-BR" sz="2400" b="1" dirty="0"/>
              <a:t>Solução escalável para agregação de logs</a:t>
            </a:r>
          </a:p>
          <a:p>
            <a:endParaRPr lang="pt-BR" sz="2400" dirty="0"/>
          </a:p>
          <a:p>
            <a:r>
              <a:rPr lang="pt-BR" sz="2400" dirty="0"/>
              <a:t>Open </a:t>
            </a:r>
            <a:r>
              <a:rPr lang="pt-BR" sz="2400" dirty="0" err="1"/>
              <a:t>source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Fácil configuração em aplicações</a:t>
            </a:r>
          </a:p>
          <a:p>
            <a:endParaRPr lang="pt-BR" sz="2400" dirty="0"/>
          </a:p>
          <a:p>
            <a:r>
              <a:rPr lang="pt-BR" sz="2400" dirty="0"/>
              <a:t>Site: </a:t>
            </a:r>
            <a:r>
              <a:rPr lang="pt-BR" sz="2400" dirty="0">
                <a:hlinkClick r:id="rId3"/>
              </a:rPr>
              <a:t>https://grafana.com/oss/loki/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8AD17E33-69E7-048D-431D-0D5855B8214B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355FDACE-44CF-AB11-4C2E-7D83315D5D2F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D95FB24-F23B-CCA0-8DD5-9D328F100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3563" y="1733127"/>
            <a:ext cx="1745113" cy="203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66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1AB9D74A-E9FC-40C8-1626-70E464C2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37EA77A5-0531-A9BF-DDDD-AF3B0FB318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/>
              <a:t>Tempo: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BABD8154-8E59-6A0F-625B-2F253C11D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pt-BR" sz="2400" b="1" dirty="0"/>
              <a:t>Solução escalável para </a:t>
            </a:r>
            <a:r>
              <a:rPr lang="pt-BR" sz="2400" b="1" dirty="0" err="1"/>
              <a:t>tracing</a:t>
            </a:r>
            <a:r>
              <a:rPr lang="pt-BR" sz="2400" b="1" dirty="0"/>
              <a:t> distribuído</a:t>
            </a:r>
          </a:p>
          <a:p>
            <a:endParaRPr lang="pt-BR" sz="2400" dirty="0"/>
          </a:p>
          <a:p>
            <a:r>
              <a:rPr lang="pt-BR" sz="2400" dirty="0"/>
              <a:t>Open </a:t>
            </a:r>
            <a:r>
              <a:rPr lang="pt-BR" sz="2400" dirty="0" err="1"/>
              <a:t>source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Integração com </a:t>
            </a:r>
            <a:r>
              <a:rPr lang="pt-BR" sz="2400" b="1" dirty="0" err="1"/>
              <a:t>OpenTelemetry</a:t>
            </a:r>
            <a:r>
              <a:rPr lang="pt-BR" sz="2400" dirty="0"/>
              <a:t> e </a:t>
            </a:r>
            <a:r>
              <a:rPr lang="pt-BR" sz="2400" b="1" dirty="0"/>
              <a:t>Loki</a:t>
            </a:r>
          </a:p>
          <a:p>
            <a:endParaRPr lang="pt-BR" sz="2400" dirty="0"/>
          </a:p>
          <a:p>
            <a:r>
              <a:rPr lang="pt-BR" sz="2400" dirty="0"/>
              <a:t>Site: </a:t>
            </a:r>
            <a:r>
              <a:rPr lang="pt-BR" sz="2400" dirty="0">
                <a:hlinkClick r:id="rId3"/>
              </a:rPr>
              <a:t>https://grafana.com/oss/tempo/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910DE745-9836-BC86-7608-733C259E8919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2BA1CCB8-8437-C7A2-27C9-122FAA27CE36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9C80E0E-E238-DD36-4135-0E8904DFEA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3934" y="1761868"/>
            <a:ext cx="2321160" cy="188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21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41BE5DA4-06F8-FE97-1A19-1944F47A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B45A5C58-8E7C-6E8D-B4D8-1F1584475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/>
              <a:t>Azure Monitor: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5C13A547-3F03-4A8D-286E-42D22DD5A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pt-BR" sz="2400" dirty="0"/>
              <a:t>Suíte de monitoramento da </a:t>
            </a:r>
            <a:r>
              <a:rPr lang="pt-BR" sz="2400" b="1" dirty="0"/>
              <a:t>nuvem Microsoft</a:t>
            </a:r>
          </a:p>
          <a:p>
            <a:endParaRPr lang="pt-BR" sz="2400" dirty="0"/>
          </a:p>
          <a:p>
            <a:r>
              <a:rPr lang="pt-BR" sz="2400" b="1" dirty="0" err="1"/>
              <a:t>Application</a:t>
            </a:r>
            <a:r>
              <a:rPr lang="pt-BR" sz="2400" b="1" dirty="0"/>
              <a:t> Insights</a:t>
            </a:r>
            <a:r>
              <a:rPr lang="pt-BR" sz="2400" dirty="0"/>
              <a:t>: um dos componentes, monitoramento de aplicações</a:t>
            </a:r>
          </a:p>
          <a:p>
            <a:endParaRPr lang="pt-BR" sz="2400" dirty="0"/>
          </a:p>
          <a:p>
            <a:r>
              <a:rPr lang="pt-BR" sz="2400" b="1" dirty="0"/>
              <a:t>Log </a:t>
            </a:r>
            <a:r>
              <a:rPr lang="pt-BR" sz="2400" b="1" dirty="0" err="1"/>
              <a:t>Analytics</a:t>
            </a:r>
            <a:r>
              <a:rPr lang="pt-BR" sz="2400" dirty="0"/>
              <a:t>: repositório centralizado de dados e logs</a:t>
            </a:r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E034B08A-6B37-B0EA-CCC4-D8CDC9312006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47610C29-F1AA-8841-3DAE-2A855EBFC8FF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3DB1A56-2CCB-1E76-B834-B11DF8F516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2958" y="928784"/>
            <a:ext cx="1771267" cy="177126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3F8691FE-8D83-E67C-83C0-AF1ECAAB79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3045" y="2794216"/>
            <a:ext cx="1429988" cy="142998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AFB8B29B-842A-4CA7-D417-F37B503FD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3033" y="2823832"/>
            <a:ext cx="1429988" cy="142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55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D5860B8F-0904-9E1F-C681-08D4AF2B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B2E75760-B17A-8485-6337-1A0BBD94F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/>
              <a:t>Jaeger: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35805178-2D99-B55A-9E6D-D55EE68A0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pt-BR" sz="2400" b="1" dirty="0"/>
              <a:t>Monitoramento de transações distribuídas</a:t>
            </a:r>
          </a:p>
          <a:p>
            <a:endParaRPr lang="pt-BR" sz="2400" dirty="0"/>
          </a:p>
          <a:p>
            <a:r>
              <a:rPr lang="pt-BR" sz="2400" dirty="0"/>
              <a:t>Análise de </a:t>
            </a:r>
            <a:r>
              <a:rPr lang="pt-BR" sz="2400" b="1" dirty="0"/>
              <a:t>dependências envolvidas</a:t>
            </a:r>
          </a:p>
          <a:p>
            <a:endParaRPr lang="pt-BR" sz="2400" dirty="0"/>
          </a:p>
          <a:p>
            <a:r>
              <a:rPr lang="pt-BR" sz="2400" dirty="0"/>
              <a:t>Dados persistidos em soluções como </a:t>
            </a:r>
            <a:r>
              <a:rPr lang="pt-BR" sz="2400" b="1" dirty="0" err="1"/>
              <a:t>Elasticsearch</a:t>
            </a:r>
            <a:r>
              <a:rPr lang="pt-BR" sz="2400" b="1" dirty="0"/>
              <a:t>, Cassandra...</a:t>
            </a:r>
          </a:p>
          <a:p>
            <a:endParaRPr lang="pt-BR" sz="2400" dirty="0"/>
          </a:p>
          <a:p>
            <a:r>
              <a:rPr lang="pt-BR" sz="2400" dirty="0"/>
              <a:t>Site: </a:t>
            </a:r>
            <a:r>
              <a:rPr lang="pt-BR" sz="2400" dirty="0">
                <a:hlinkClick r:id="rId3"/>
              </a:rPr>
              <a:t>https://www.jaegertracing.io/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22853D2E-25F5-F04A-8B37-5416B0AEA921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B5D2F386-2048-A4ED-B956-BACAA43AE941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m 6" descr="https://raw.githubusercontent.com/cncf/artwork/main/projects/jaeger/icon/reverse-color/jaeger-icon-reverse-color.png">
            <a:extLst>
              <a:ext uri="{FF2B5EF4-FFF2-40B4-BE49-F238E27FC236}">
                <a16:creationId xmlns:a16="http://schemas.microsoft.com/office/drawing/2014/main" id="{924B0C67-2E84-EE82-4287-C8E76780C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830" y="1588210"/>
            <a:ext cx="2210470" cy="22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89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AD8844D-A05D-6DAC-188E-E452D91D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15B01ACD-8140-6976-8A5F-CE157D3BEF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/>
              <a:t>Jaeger: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E4CD8E38-419C-714E-9D2C-89D401AF50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r>
              <a:rPr lang="pt-BR" sz="2400" b="1" dirty="0"/>
              <a:t>Outra alternativa para monitoramento de transações distribuídas</a:t>
            </a:r>
          </a:p>
          <a:p>
            <a:endParaRPr lang="pt-BR" sz="2400" dirty="0"/>
          </a:p>
          <a:p>
            <a:r>
              <a:rPr lang="pt-BR" sz="2400" dirty="0"/>
              <a:t>Dashboards para análises das dependências envolvidas</a:t>
            </a:r>
          </a:p>
          <a:p>
            <a:endParaRPr lang="pt-BR" sz="2400" dirty="0"/>
          </a:p>
          <a:p>
            <a:r>
              <a:rPr lang="pt-BR" sz="2400" dirty="0"/>
              <a:t>Dados persistidos também em soluções como </a:t>
            </a:r>
            <a:r>
              <a:rPr lang="pt-BR" sz="2400" b="1" dirty="0" err="1"/>
              <a:t>Elasticsearch</a:t>
            </a:r>
            <a:r>
              <a:rPr lang="pt-BR" sz="2400" dirty="0"/>
              <a:t> e </a:t>
            </a:r>
            <a:r>
              <a:rPr lang="pt-BR" sz="2400" b="1" dirty="0"/>
              <a:t>Cassandra</a:t>
            </a:r>
          </a:p>
          <a:p>
            <a:endParaRPr lang="pt-BR" sz="2400" dirty="0"/>
          </a:p>
          <a:p>
            <a:r>
              <a:rPr lang="pt-BR" sz="2400" dirty="0"/>
              <a:t>Site: </a:t>
            </a:r>
            <a:r>
              <a:rPr lang="pt-BR" sz="2400" dirty="0">
                <a:hlinkClick r:id="rId3"/>
              </a:rPr>
              <a:t>https://zipkin.io/</a:t>
            </a:r>
            <a:endParaRPr lang="pt-BR" sz="2400" dirty="0"/>
          </a:p>
          <a:p>
            <a:endParaRPr lang="pt-BR" sz="2400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1386351-9AFD-4D1B-FEB0-7C7322698D27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0B6828A6-5480-6EDD-4B94-1D0FC573A244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5E67F49B-4DF5-7258-9AD7-C97B46F1A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010" y="1701886"/>
            <a:ext cx="2011660" cy="212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8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AC2CCFD1-9621-EE86-4557-ACDB9EF2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363A74C5-AD44-E15E-0C08-3836DFA281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600" dirty="0" err="1"/>
              <a:t>Elastic</a:t>
            </a:r>
            <a:r>
              <a:rPr lang="pt-BR" sz="3600" dirty="0"/>
              <a:t> APM: uma visão geral</a:t>
            </a:r>
            <a:endParaRPr sz="2400" dirty="0"/>
          </a:p>
        </p:txBody>
      </p:sp>
      <p:sp>
        <p:nvSpPr>
          <p:cNvPr id="78" name="Google Shape;78;p4">
            <a:extLst>
              <a:ext uri="{FF2B5EF4-FFF2-40B4-BE49-F238E27FC236}">
                <a16:creationId xmlns:a16="http://schemas.microsoft.com/office/drawing/2014/main" id="{5CF96394-4F36-3F9A-353A-EF4A5084C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9571"/>
            <a:ext cx="6232535" cy="31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pt-BR" b="1" dirty="0"/>
              <a:t>APM: </a:t>
            </a:r>
            <a:r>
              <a:rPr lang="pt-BR" b="1" dirty="0" err="1"/>
              <a:t>Application</a:t>
            </a:r>
            <a:r>
              <a:rPr lang="pt-BR" b="1" dirty="0"/>
              <a:t> Performance </a:t>
            </a:r>
            <a:r>
              <a:rPr lang="pt-BR" b="1" dirty="0" err="1"/>
              <a:t>Monitoring</a:t>
            </a:r>
            <a:endParaRPr lang="pt-BR" b="1" dirty="0"/>
          </a:p>
          <a:p>
            <a:endParaRPr lang="pt-BR" dirty="0"/>
          </a:p>
          <a:p>
            <a:r>
              <a:rPr lang="pt-BR" dirty="0"/>
              <a:t>Parte integrante da </a:t>
            </a:r>
            <a:r>
              <a:rPr lang="pt-BR" b="1" dirty="0" err="1"/>
              <a:t>Elastic</a:t>
            </a:r>
            <a:r>
              <a:rPr lang="pt-BR" b="1" dirty="0"/>
              <a:t> Stack</a:t>
            </a:r>
            <a:r>
              <a:rPr lang="pt-BR" dirty="0"/>
              <a:t>, que inclui </a:t>
            </a:r>
            <a:r>
              <a:rPr lang="pt-BR" b="1" dirty="0" err="1"/>
              <a:t>Elasticsearch</a:t>
            </a:r>
            <a:r>
              <a:rPr lang="pt-BR" dirty="0"/>
              <a:t> e </a:t>
            </a:r>
            <a:r>
              <a:rPr lang="pt-BR" b="1" dirty="0" err="1"/>
              <a:t>Kibana</a:t>
            </a:r>
            <a:endParaRPr lang="pt-BR" b="1" dirty="0"/>
          </a:p>
          <a:p>
            <a:endParaRPr lang="pt-BR" dirty="0"/>
          </a:p>
          <a:p>
            <a:r>
              <a:rPr lang="pt-BR" dirty="0"/>
              <a:t>Rastreamento, análise e solução de problemas relacionados ao desempenho de aplicações</a:t>
            </a:r>
          </a:p>
          <a:p>
            <a:endParaRPr lang="pt-BR" dirty="0"/>
          </a:p>
          <a:p>
            <a:r>
              <a:rPr lang="pt-BR" dirty="0"/>
              <a:t>Site:</a:t>
            </a:r>
            <a:br>
              <a:rPr lang="pt-BR" dirty="0"/>
            </a:br>
            <a:r>
              <a:rPr lang="pt-BR" sz="1600" dirty="0"/>
              <a:t>https://www.elastic.co/pt/observability/application-performance-monitoring</a:t>
            </a:r>
          </a:p>
          <a:p>
            <a:endParaRPr lang="pt-BR"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CFDB1785-7F81-ADC3-6268-B9B50533B22B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B5DC976B-480C-47F1-54F3-32AE29C27A44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2" name="Imagem 1" descr="Forma&#10;&#10;Descrição gerada automaticamente">
            <a:extLst>
              <a:ext uri="{FF2B5EF4-FFF2-40B4-BE49-F238E27FC236}">
                <a16:creationId xmlns:a16="http://schemas.microsoft.com/office/drawing/2014/main" id="{22351115-2BB1-5EFE-FEC9-9CAA1EAEC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557" y="2780197"/>
            <a:ext cx="1435919" cy="1435919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id="{E53F0712-B1E6-DE8D-B324-F551E82BEA39}"/>
              </a:ext>
            </a:extLst>
          </p:cNvPr>
          <p:cNvGrpSpPr/>
          <p:nvPr/>
        </p:nvGrpSpPr>
        <p:grpSpPr>
          <a:xfrm>
            <a:off x="6416357" y="1029594"/>
            <a:ext cx="1752600" cy="1750603"/>
            <a:chOff x="1899467" y="3802062"/>
            <a:chExt cx="1981200" cy="1981200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FE78B5C8-05C4-259C-2984-1DE24D1D0300}"/>
                </a:ext>
              </a:extLst>
            </p:cNvPr>
            <p:cNvSpPr/>
            <p:nvPr/>
          </p:nvSpPr>
          <p:spPr bwMode="auto">
            <a:xfrm>
              <a:off x="1899467" y="3802062"/>
              <a:ext cx="1981200" cy="1981200"/>
            </a:xfrm>
            <a:prstGeom prst="ellipse">
              <a:avLst/>
            </a:prstGeom>
            <a:solidFill>
              <a:schemeClr val="accent4">
                <a:lumMod val="10000"/>
              </a:schemeClr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46637" rIns="0" bIns="46637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pt-BR" sz="2000" dirty="0">
                <a:gradFill>
                  <a:gsLst>
                    <a:gs pos="5439">
                      <a:srgbClr val="F8F8F8"/>
                    </a:gs>
                    <a:gs pos="10000">
                      <a:srgbClr val="F8F8F8"/>
                    </a:gs>
                  </a:gsLst>
                  <a:lin ang="5400000" scaled="0"/>
                </a:gradFill>
              </a:endParaRPr>
            </a:p>
          </p:txBody>
        </p: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8B3C445A-7892-1AEF-B7A1-10C1D3BF23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55837" y="4259262"/>
              <a:ext cx="1143000" cy="1143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8653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9CDACFC7-C5E7-4AED-9D19-C4638BE8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E623A927-636D-52B1-CA95-1858709A0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 err="1"/>
              <a:t>Exemplos</a:t>
            </a:r>
            <a:r>
              <a:rPr lang="en-US" sz="4200" dirty="0"/>
              <a:t> </a:t>
            </a:r>
            <a:r>
              <a:rPr lang="en-US" sz="4200" dirty="0" err="1"/>
              <a:t>práticos</a:t>
            </a:r>
            <a:endParaRPr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9227DCE5-61B8-A8AD-B940-5A0B7F3BA199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765152CF-CA17-3643-DF08-DB8E08EB3FC3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2230F-677A-97CD-D54E-4D44D02B1D6F}"/>
              </a:ext>
            </a:extLst>
          </p:cNvPr>
          <p:cNvSpPr txBox="1">
            <a:spLocks/>
          </p:cNvSpPr>
          <p:nvPr/>
        </p:nvSpPr>
        <p:spPr>
          <a:xfrm>
            <a:off x="5659633" y="1849552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12" name="Imagem 11" descr="Ícone&#10;&#10;Descrição gerada automaticamente">
            <a:extLst>
              <a:ext uri="{FF2B5EF4-FFF2-40B4-BE49-F238E27FC236}">
                <a16:creationId xmlns:a16="http://schemas.microsoft.com/office/drawing/2014/main" id="{50842E7E-02F7-A126-DF46-C5AA4B64E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318" y="3656011"/>
            <a:ext cx="1188528" cy="118852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00505669-041E-07C5-5621-E61E05040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505" y="1379220"/>
            <a:ext cx="19431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906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4861507-2A45-3942-49A8-FFD02A386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FF2E9C2C-26F7-8DDF-03DF-6928D2C78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4200" dirty="0" err="1"/>
              <a:t>Muito</a:t>
            </a:r>
            <a:r>
              <a:rPr lang="en-US" sz="4200" dirty="0"/>
              <a:t> </a:t>
            </a:r>
            <a:r>
              <a:rPr lang="en-US" sz="4200" dirty="0" err="1"/>
              <a:t>obrigado</a:t>
            </a:r>
            <a:r>
              <a:rPr lang="en-US" sz="4200" dirty="0"/>
              <a:t>!</a:t>
            </a:r>
            <a:endParaRPr dirty="0"/>
          </a:p>
        </p:txBody>
      </p:sp>
      <p:sp>
        <p:nvSpPr>
          <p:cNvPr id="79" name="Google Shape;79;p4">
            <a:extLst>
              <a:ext uri="{FF2B5EF4-FFF2-40B4-BE49-F238E27FC236}">
                <a16:creationId xmlns:a16="http://schemas.microsoft.com/office/drawing/2014/main" id="{390B365F-448D-41E2-28F6-0E1185A0CB8C}"/>
              </a:ext>
            </a:extLst>
          </p:cNvPr>
          <p:cNvSpPr txBox="1"/>
          <p:nvPr/>
        </p:nvSpPr>
        <p:spPr>
          <a:xfrm>
            <a:off x="234105" y="4501381"/>
            <a:ext cx="86739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62163"/>
              <a:buFont typeface="Average"/>
              <a:buNone/>
            </a:pPr>
            <a:r>
              <a:rPr lang="en-US" sz="12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VIXES</a:t>
            </a:r>
            <a:endParaRPr sz="1200" b="0" i="0" u="none" strike="noStrike" cap="none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114300" marR="0" lvl="0" indent="0" algn="r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94595"/>
              <a:buFont typeface="Average"/>
              <a:buNone/>
            </a:pPr>
            <a:r>
              <a:rPr lang="en-US" sz="10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www.ties.dev.br</a:t>
            </a:r>
            <a:endParaRPr/>
          </a:p>
        </p:txBody>
      </p:sp>
      <p:sp>
        <p:nvSpPr>
          <p:cNvPr id="80" name="Google Shape;80;p4">
            <a:extLst>
              <a:ext uri="{FF2B5EF4-FFF2-40B4-BE49-F238E27FC236}">
                <a16:creationId xmlns:a16="http://schemas.microsoft.com/office/drawing/2014/main" id="{F127706F-EF73-DBB3-75F2-3C198CD21396}"/>
              </a:ext>
            </a:extLst>
          </p:cNvPr>
          <p:cNvSpPr/>
          <p:nvPr/>
        </p:nvSpPr>
        <p:spPr>
          <a:xfrm>
            <a:off x="8095920" y="174136"/>
            <a:ext cx="811500" cy="32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F4AF-F94C-FFDA-C8C4-6369BD56F18A}"/>
              </a:ext>
            </a:extLst>
          </p:cNvPr>
          <p:cNvSpPr txBox="1">
            <a:spLocks/>
          </p:cNvSpPr>
          <p:nvPr/>
        </p:nvSpPr>
        <p:spPr>
          <a:xfrm>
            <a:off x="5659633" y="1849552"/>
            <a:ext cx="3676995" cy="117369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28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28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28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2800" dirty="0">
              <a:latin typeface="Maven Pro Black" pitchFamily="2" charset="77"/>
              <a:cs typeface="Maven Pro Regular" pitchFamily="34" charset="-120"/>
            </a:endParaRPr>
          </a:p>
        </p:txBody>
      </p:sp>
      <p:pic>
        <p:nvPicPr>
          <p:cNvPr id="6" name="Imagem 5" descr="Ícone&#10;&#10;Descrição gerada automaticamente">
            <a:extLst>
              <a:ext uri="{FF2B5EF4-FFF2-40B4-BE49-F238E27FC236}">
                <a16:creationId xmlns:a16="http://schemas.microsoft.com/office/drawing/2014/main" id="{5CD66D17-2B3A-49C6-8698-B5AEA2E55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318" y="3656011"/>
            <a:ext cx="1188528" cy="11885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8BE4607-71B3-D39F-F6E3-95AFFCD7C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505" y="1379220"/>
            <a:ext cx="19431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183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1245</Words>
  <Application>Microsoft Office PowerPoint</Application>
  <PresentationFormat>Apresentação na tela (16:9)</PresentationFormat>
  <Paragraphs>237</Paragraphs>
  <Slides>35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1" baseType="lpstr">
      <vt:lpstr>Oswald</vt:lpstr>
      <vt:lpstr>Average</vt:lpstr>
      <vt:lpstr>Maven Pro Black</vt:lpstr>
      <vt:lpstr>Arial</vt:lpstr>
      <vt:lpstr>Maven Pro Regular</vt:lpstr>
      <vt:lpstr>Slate</vt:lpstr>
      <vt:lpstr>Apresentação do PowerPoint</vt:lpstr>
      <vt:lpstr>Apresentação do PowerPoint</vt:lpstr>
      <vt:lpstr>Apresentação do PowerPoint</vt:lpstr>
      <vt:lpstr>Renato Groffe</vt:lpstr>
      <vt:lpstr>Conteúdos desta apresentação</vt:lpstr>
      <vt:lpstr>Agenda</vt:lpstr>
      <vt:lpstr>Aplicações Distribuídas e Microservices: desafios</vt:lpstr>
      <vt:lpstr>Pilares da Observabilidade</vt:lpstr>
      <vt:lpstr>Observabilidade x Aplicações x Bancos de Dados</vt:lpstr>
      <vt:lpstr>Distributed Tracing: uma visão geral</vt:lpstr>
      <vt:lpstr>Distributed Tracing: uma visão geral</vt:lpstr>
      <vt:lpstr>Tracing: elementos e conceitos importantes</vt:lpstr>
      <vt:lpstr>OpenTelemetry: uma visão geral</vt:lpstr>
      <vt:lpstr>OpenTelemetry: uma visão geral</vt:lpstr>
      <vt:lpstr>OpenTelemetry: uma visão geral</vt:lpstr>
      <vt:lpstr>OpenTelemetry: uma visão geral</vt:lpstr>
      <vt:lpstr>Grafana: uma visão geral</vt:lpstr>
      <vt:lpstr>Grafana: uma visão geral</vt:lpstr>
      <vt:lpstr>Grafana: uma visão geral</vt:lpstr>
      <vt:lpstr>Grafana: uma visão geral</vt:lpstr>
      <vt:lpstr>Ecossistema Grafana + OpenTelemetry + Prometheus</vt:lpstr>
      <vt:lpstr>Grafana GROT Academy</vt:lpstr>
      <vt:lpstr>Apresentação do PowerPoint</vt:lpstr>
      <vt:lpstr>Alloy: uma visão geral</vt:lpstr>
      <vt:lpstr>Alloy: uma visão geral</vt:lpstr>
      <vt:lpstr>Prometheus: uma visão geral</vt:lpstr>
      <vt:lpstr>Loki: uma visão geral</vt:lpstr>
      <vt:lpstr>Tempo: uma visão geral</vt:lpstr>
      <vt:lpstr>Azure Monitor: uma visão geral</vt:lpstr>
      <vt:lpstr>Jaeger: uma visão geral</vt:lpstr>
      <vt:lpstr>Jaeger: uma visão geral</vt:lpstr>
      <vt:lpstr>Elastic APM: uma visão geral</vt:lpstr>
      <vt:lpstr>Exemplos práticos</vt:lpstr>
      <vt:lpstr>Muito obrigado!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Renato Groffe</dc:creator>
  <cp:lastModifiedBy>Renato Groffe</cp:lastModifiedBy>
  <cp:revision>12</cp:revision>
  <dcterms:modified xsi:type="dcterms:W3CDTF">2026-09-19T02:25:02Z</dcterms:modified>
</cp:coreProperties>
</file>